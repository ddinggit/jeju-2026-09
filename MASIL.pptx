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10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42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9D0C-259A-4532-8F4D-93BE298F81F0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E209-64FF-4CB0-A7C4-9E496C77FD8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388" y="687388"/>
            <a:ext cx="12168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72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09D0C-259A-4532-8F4D-93BE298F81F0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5E209-64FF-4CB0-A7C4-9E496C77FD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3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079506" y="1145220"/>
            <a:ext cx="2032987" cy="84337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마실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err="1" smtClean="0"/>
              <a:t>Masil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267131" y="2805243"/>
            <a:ext cx="2003460" cy="6793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마실</a:t>
            </a:r>
            <a:r>
              <a:rPr lang="en-US" altLang="ko-KR" sz="1400" b="1" dirty="0">
                <a:solidFill>
                  <a:schemeClr val="bg1"/>
                </a:solidFill>
              </a:rPr>
              <a:t> C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are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685469" y="2805243"/>
            <a:ext cx="2003460" cy="679390"/>
          </a:xfrm>
          <a:prstGeom prst="roundRect">
            <a:avLst/>
          </a:prstGeom>
          <a:solidFill>
            <a:schemeClr val="bg1"/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마실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Store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103807" y="2805243"/>
            <a:ext cx="2003460" cy="679390"/>
          </a:xfrm>
          <a:prstGeom prst="roundRect">
            <a:avLst/>
          </a:prstGeom>
          <a:solidFill>
            <a:schemeClr val="bg1"/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마실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Robot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522145" y="2805243"/>
            <a:ext cx="2003460" cy="679390"/>
          </a:xfrm>
          <a:prstGeom prst="roundRect">
            <a:avLst/>
          </a:prstGeom>
          <a:solidFill>
            <a:schemeClr val="bg1"/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마실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Service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9940482" y="2805243"/>
            <a:ext cx="2003460" cy="679390"/>
          </a:xfrm>
          <a:prstGeom prst="roundRect">
            <a:avLst/>
          </a:prstGeom>
          <a:solidFill>
            <a:schemeClr val="bg1"/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마실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On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131" y="3566829"/>
            <a:ext cx="1705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smtClean="0"/>
              <a:t>WEB </a:t>
            </a:r>
            <a:r>
              <a:rPr lang="ko-KR" altLang="en-US" sz="1200" dirty="0" smtClean="0"/>
              <a:t>솔루션 </a:t>
            </a:r>
            <a:r>
              <a:rPr lang="en-US" altLang="ko-KR" sz="1200" dirty="0" smtClean="0"/>
              <a:t>S/W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smtClean="0"/>
              <a:t>Mobile </a:t>
            </a:r>
            <a:r>
              <a:rPr lang="ko-KR" altLang="en-US" sz="1200" dirty="0" smtClean="0"/>
              <a:t>솔루션 </a:t>
            </a:r>
            <a:r>
              <a:rPr lang="en-US" altLang="ko-KR" sz="1200" dirty="0" smtClean="0"/>
              <a:t>S/W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200" dirty="0" smtClean="0"/>
              <a:t>자동화 솔루션</a:t>
            </a:r>
            <a:endParaRPr lang="en-US" altLang="ko-KR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2685469" y="3566829"/>
            <a:ext cx="982961" cy="772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err="1" smtClean="0"/>
              <a:t>B2C</a:t>
            </a:r>
            <a:r>
              <a:rPr lang="en-US" altLang="ko-KR" sz="1200" dirty="0" smtClean="0"/>
              <a:t> Mall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err="1" smtClean="0"/>
              <a:t>B2B</a:t>
            </a:r>
            <a:r>
              <a:rPr lang="en-US" altLang="ko-KR" sz="1200" dirty="0" smtClean="0"/>
              <a:t> Mall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122576" y="3566829"/>
            <a:ext cx="11817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err="1" smtClean="0"/>
              <a:t>IoT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식물</a:t>
            </a:r>
            <a:endParaRPr lang="en-US" altLang="ko-KR" sz="1200" dirty="0" smtClean="0"/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200" dirty="0" smtClean="0"/>
              <a:t>로봇 강아지</a:t>
            </a:r>
            <a:endParaRPr lang="en-US" altLang="ko-KR" sz="1200" dirty="0" smtClean="0"/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200" dirty="0" err="1" smtClean="0"/>
              <a:t>휴머노이드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7522145" y="3566829"/>
            <a:ext cx="13799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smtClean="0"/>
              <a:t>Mother’s book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9940482" y="3566829"/>
            <a:ext cx="923201" cy="402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200" dirty="0" err="1" smtClean="0"/>
              <a:t>Cyworld</a:t>
            </a:r>
            <a:endParaRPr lang="ko-KR" altLang="en-US" sz="1200" dirty="0"/>
          </a:p>
        </p:txBody>
      </p:sp>
      <p:cxnSp>
        <p:nvCxnSpPr>
          <p:cNvPr id="16" name="꺾인 연결선 15"/>
          <p:cNvCxnSpPr>
            <a:stCxn id="4" idx="2"/>
            <a:endCxn id="5" idx="0"/>
          </p:cNvCxnSpPr>
          <p:nvPr/>
        </p:nvCxnSpPr>
        <p:spPr>
          <a:xfrm rot="5400000">
            <a:off x="3274109" y="-16648"/>
            <a:ext cx="816644" cy="4827139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4" idx="2"/>
            <a:endCxn id="6" idx="0"/>
          </p:cNvCxnSpPr>
          <p:nvPr/>
        </p:nvCxnSpPr>
        <p:spPr>
          <a:xfrm rot="5400000">
            <a:off x="4483278" y="1192521"/>
            <a:ext cx="816644" cy="240880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4" idx="2"/>
            <a:endCxn id="8" idx="0"/>
          </p:cNvCxnSpPr>
          <p:nvPr/>
        </p:nvCxnSpPr>
        <p:spPr>
          <a:xfrm rot="16200000" flipH="1">
            <a:off x="6901615" y="1182983"/>
            <a:ext cx="816644" cy="242787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4" idx="2"/>
            <a:endCxn id="9" idx="0"/>
          </p:cNvCxnSpPr>
          <p:nvPr/>
        </p:nvCxnSpPr>
        <p:spPr>
          <a:xfrm rot="16200000" flipH="1">
            <a:off x="8110784" y="-26185"/>
            <a:ext cx="816644" cy="48462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4" idx="2"/>
            <a:endCxn id="7" idx="0"/>
          </p:cNvCxnSpPr>
          <p:nvPr/>
        </p:nvCxnSpPr>
        <p:spPr>
          <a:xfrm>
            <a:off x="6096000" y="1988599"/>
            <a:ext cx="9537" cy="81664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811820" y="1170787"/>
            <a:ext cx="1864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가칭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마실</a:t>
            </a:r>
            <a:r>
              <a:rPr lang="en-US" altLang="ko-KR" sz="1000" dirty="0" smtClean="0"/>
              <a:t>]</a:t>
            </a:r>
          </a:p>
          <a:p>
            <a:r>
              <a:rPr lang="ko-KR" altLang="en-US" sz="1000" dirty="0" smtClean="0"/>
              <a:t>순 한국어</a:t>
            </a:r>
            <a:endParaRPr lang="en-US" altLang="ko-KR" sz="1000" dirty="0" smtClean="0"/>
          </a:p>
          <a:p>
            <a:r>
              <a:rPr lang="ko-KR" altLang="en-US" sz="1000" dirty="0" smtClean="0"/>
              <a:t>짧은 단어</a:t>
            </a:r>
            <a:r>
              <a:rPr lang="en-US" altLang="ko-KR" sz="1000" dirty="0" smtClean="0"/>
              <a:t/>
            </a:r>
            <a:br>
              <a:rPr lang="en-US" altLang="ko-KR" sz="1000" dirty="0" smtClean="0"/>
            </a:br>
            <a:r>
              <a:rPr lang="ko-KR" altLang="en-US" sz="1000" dirty="0" smtClean="0"/>
              <a:t>영어권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스페인어권</a:t>
            </a:r>
            <a:r>
              <a:rPr lang="ko-KR" altLang="en-US" sz="1000" dirty="0" smtClean="0"/>
              <a:t> 발음 용이</a:t>
            </a:r>
            <a:endParaRPr lang="en-US" altLang="ko-KR" sz="10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24288" y="213064"/>
            <a:ext cx="2034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Biz. </a:t>
            </a:r>
            <a:r>
              <a:rPr lang="ko-KR" altLang="en-US" sz="2400" b="1" dirty="0" smtClean="0"/>
              <a:t>카테고리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1570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모서리가 둥근 직사각형 35"/>
          <p:cNvSpPr/>
          <p:nvPr/>
        </p:nvSpPr>
        <p:spPr>
          <a:xfrm>
            <a:off x="585629" y="912805"/>
            <a:ext cx="2003460" cy="6793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마실</a:t>
            </a:r>
            <a:r>
              <a:rPr lang="en-US" altLang="ko-KR" sz="1400" b="1" dirty="0">
                <a:solidFill>
                  <a:schemeClr val="bg1"/>
                </a:solidFill>
              </a:rPr>
              <a:t> C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are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629" y="1613042"/>
            <a:ext cx="550823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err="1" smtClean="0"/>
              <a:t>수급자</a:t>
            </a:r>
            <a:r>
              <a:rPr lang="ko-KR" altLang="en-US" sz="1200" dirty="0" smtClean="0"/>
              <a:t> 정보 관리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계획 관리 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수급자</a:t>
            </a:r>
            <a:r>
              <a:rPr lang="ko-KR" altLang="en-US" sz="1200" dirty="0" smtClean="0"/>
              <a:t> 차량 이용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참여 프로그램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식사 등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실적 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계획과 연계한 실제 참여 관리</a:t>
            </a:r>
            <a:r>
              <a:rPr lang="en-US" altLang="ko-KR" sz="1200" dirty="0" smtClean="0"/>
              <a:t>-</a:t>
            </a:r>
            <a:r>
              <a:rPr lang="ko-KR" altLang="en-US" sz="1200" dirty="0" smtClean="0"/>
              <a:t>이동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요양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간호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프로그램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식사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거래 명세 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실적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거래명세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희망이음</a:t>
            </a:r>
            <a:r>
              <a:rPr lang="ko-KR" altLang="en-US" sz="1200" dirty="0" smtClean="0"/>
              <a:t> 계정과 연계한 정보 관리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재무관리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직원 급여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비용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수입 등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시스템 연동 </a:t>
            </a:r>
            <a:r>
              <a:rPr lang="en-US" altLang="ko-KR" sz="1200" dirty="0" smtClean="0"/>
              <a:t>(API, RPA </a:t>
            </a:r>
            <a:r>
              <a:rPr lang="ko-KR" altLang="en-US" sz="1200" dirty="0" smtClean="0"/>
              <a:t>등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연동 결과 검증 관리 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거래명세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VS </a:t>
            </a:r>
            <a:r>
              <a:rPr lang="ko-KR" altLang="en-US" sz="1200" dirty="0" err="1" smtClean="0"/>
              <a:t>희망이음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DATA)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비정형 리포트 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감사 자료 생성</a:t>
            </a:r>
            <a:r>
              <a:rPr lang="en-US" altLang="ko-KR" sz="1200" dirty="0" smtClean="0"/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 smtClean="0"/>
              <a:t>System </a:t>
            </a:r>
            <a:r>
              <a:rPr lang="ko-KR" altLang="en-US" sz="1200" dirty="0" smtClean="0"/>
              <a:t>관리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마스터 관리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센터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사용자계정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회계계정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프로그램 등</a:t>
            </a:r>
            <a:r>
              <a:rPr lang="en-US" altLang="ko-KR" sz="1200" dirty="0" smtClean="0"/>
              <a:t>)</a:t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권한 관리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직원관리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개인정보 이용 약관</a:t>
            </a:r>
            <a:endParaRPr lang="ko-KR" altLang="en-US" sz="1200" dirty="0"/>
          </a:p>
        </p:txBody>
      </p:sp>
      <p:cxnSp>
        <p:nvCxnSpPr>
          <p:cNvPr id="39" name="직선 연결선 38"/>
          <p:cNvCxnSpPr/>
          <p:nvPr/>
        </p:nvCxnSpPr>
        <p:spPr>
          <a:xfrm>
            <a:off x="6092577" y="1710697"/>
            <a:ext cx="0" cy="46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2" y="1613042"/>
            <a:ext cx="42258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arenR"/>
            </a:pPr>
            <a:r>
              <a:rPr lang="en-US" altLang="ko-KR" sz="1200" dirty="0" smtClean="0"/>
              <a:t>WEB </a:t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err="1" smtClean="0"/>
              <a:t>요양센터</a:t>
            </a:r>
            <a:r>
              <a:rPr lang="ko-KR" altLang="en-US" sz="1200" dirty="0" smtClean="0"/>
              <a:t> 운영 프로그램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자동화 </a:t>
            </a:r>
            <a:r>
              <a:rPr lang="en-US" altLang="ko-KR" sz="1200" dirty="0" smtClean="0"/>
              <a:t>Tag (</a:t>
            </a:r>
            <a:r>
              <a:rPr lang="ko-KR" altLang="en-US" sz="1200" dirty="0" smtClean="0"/>
              <a:t>입실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퇴실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프로그램 참여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식사</a:t>
            </a:r>
            <a:r>
              <a:rPr lang="en-US" altLang="ko-KR" sz="1200" dirty="0" smtClean="0"/>
              <a:t>...)</a:t>
            </a:r>
          </a:p>
          <a:p>
            <a:pPr marL="228600" indent="-228600">
              <a:lnSpc>
                <a:spcPct val="200000"/>
              </a:lnSpc>
              <a:buAutoNum type="arabicParenR"/>
            </a:pPr>
            <a:endParaRPr lang="en-US" altLang="ko-KR" sz="1200" dirty="0" smtClean="0"/>
          </a:p>
          <a:p>
            <a:pPr marL="228600" indent="-228600">
              <a:lnSpc>
                <a:spcPct val="200000"/>
              </a:lnSpc>
              <a:buAutoNum type="arabicParenR"/>
            </a:pPr>
            <a:r>
              <a:rPr lang="en-US" altLang="ko-KR" sz="1200" dirty="0" smtClean="0"/>
              <a:t>Mobile</a:t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운전기사 </a:t>
            </a:r>
            <a:r>
              <a:rPr lang="ko-KR" altLang="en-US" sz="1200" dirty="0" err="1" smtClean="0"/>
              <a:t>상하차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수급자</a:t>
            </a:r>
            <a:r>
              <a:rPr lang="ko-KR" altLang="en-US" sz="1200" dirty="0" smtClean="0"/>
              <a:t> 체크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위치정보 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수급자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상하차</a:t>
            </a:r>
            <a:r>
              <a:rPr lang="ko-KR" altLang="en-US" sz="1200" dirty="0" smtClean="0"/>
              <a:t> 위치로 자동화</a:t>
            </a:r>
            <a:r>
              <a:rPr lang="en-US" altLang="ko-KR" sz="1200" dirty="0" smtClean="0"/>
              <a:t>...)</a:t>
            </a:r>
          </a:p>
          <a:p>
            <a:pPr marL="228600" indent="-228600">
              <a:lnSpc>
                <a:spcPct val="200000"/>
              </a:lnSpc>
              <a:buAutoNum type="arabicParenR"/>
            </a:pPr>
            <a:endParaRPr lang="en-US" altLang="ko-KR" sz="1200" dirty="0" smtClean="0"/>
          </a:p>
          <a:p>
            <a:pPr marL="228600" indent="-228600">
              <a:lnSpc>
                <a:spcPct val="200000"/>
              </a:lnSpc>
              <a:buAutoNum type="arabicParenR"/>
            </a:pPr>
            <a:r>
              <a:rPr lang="ko-KR" altLang="en-US" sz="1200" dirty="0" smtClean="0"/>
              <a:t>태블릿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smtClean="0"/>
              <a:t>센터 </a:t>
            </a:r>
            <a:r>
              <a:rPr lang="ko-KR" altLang="en-US" sz="1200" dirty="0" err="1" smtClean="0"/>
              <a:t>수급자</a:t>
            </a:r>
            <a:r>
              <a:rPr lang="ko-KR" altLang="en-US" sz="1200" dirty="0" smtClean="0"/>
              <a:t> 상태 실시간 기록 관리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/>
              <a:t>-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음성으로 기록 혹은 마스터 값 선택으로 업무 단순화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24288" y="213064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케어 솔루션</a:t>
            </a:r>
            <a:endParaRPr lang="ko-KR" alt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378933" y="30539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smtClean="0"/>
              <a:t>주요 구성 요소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435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모서리가 둥근 직사각형 35"/>
          <p:cNvSpPr/>
          <p:nvPr/>
        </p:nvSpPr>
        <p:spPr>
          <a:xfrm>
            <a:off x="585629" y="939436"/>
            <a:ext cx="2003460" cy="6793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마실</a:t>
            </a:r>
            <a:r>
              <a:rPr lang="en-US" altLang="ko-KR" sz="1400" b="1" dirty="0">
                <a:solidFill>
                  <a:schemeClr val="bg1"/>
                </a:solidFill>
              </a:rPr>
              <a:t> C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are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2" name="오른쪽 화살표 41"/>
          <p:cNvSpPr/>
          <p:nvPr/>
        </p:nvSpPr>
        <p:spPr>
          <a:xfrm>
            <a:off x="585629" y="2219420"/>
            <a:ext cx="3471466" cy="461638"/>
          </a:xfrm>
          <a:prstGeom prst="rightArrow">
            <a:avLst>
              <a:gd name="adj1" fmla="val 100000"/>
              <a:gd name="adj2" fmla="val 17901"/>
            </a:avLst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Ver</a:t>
            </a:r>
            <a:r>
              <a:rPr lang="en-US" altLang="ko-KR" dirty="0" smtClean="0">
                <a:solidFill>
                  <a:schemeClr val="tx1"/>
                </a:solidFill>
              </a:rPr>
              <a:t> 1.0</a:t>
            </a:r>
            <a:endParaRPr lang="ko-KR" altLang="en-US" dirty="0"/>
          </a:p>
        </p:txBody>
      </p:sp>
      <p:sp>
        <p:nvSpPr>
          <p:cNvPr id="43" name="오른쪽 화살표 42"/>
          <p:cNvSpPr/>
          <p:nvPr/>
        </p:nvSpPr>
        <p:spPr>
          <a:xfrm>
            <a:off x="4376394" y="2219420"/>
            <a:ext cx="3471466" cy="461638"/>
          </a:xfrm>
          <a:prstGeom prst="rightArrow">
            <a:avLst>
              <a:gd name="adj1" fmla="val 100000"/>
              <a:gd name="adj2" fmla="val 17901"/>
            </a:avLst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Ver</a:t>
            </a:r>
            <a:r>
              <a:rPr lang="en-US" altLang="ko-KR" dirty="0" smtClean="0">
                <a:solidFill>
                  <a:schemeClr val="tx1"/>
                </a:solidFill>
              </a:rPr>
              <a:t> 2.0</a:t>
            </a:r>
            <a:endParaRPr lang="ko-KR" altLang="en-US" dirty="0"/>
          </a:p>
        </p:txBody>
      </p:sp>
      <p:sp>
        <p:nvSpPr>
          <p:cNvPr id="44" name="오른쪽 화살표 43"/>
          <p:cNvSpPr/>
          <p:nvPr/>
        </p:nvSpPr>
        <p:spPr>
          <a:xfrm>
            <a:off x="8184914" y="2219420"/>
            <a:ext cx="3471466" cy="461638"/>
          </a:xfrm>
          <a:prstGeom prst="rightArrow">
            <a:avLst>
              <a:gd name="adj1" fmla="val 100000"/>
              <a:gd name="adj2" fmla="val 17901"/>
            </a:avLst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Ver</a:t>
            </a:r>
            <a:r>
              <a:rPr lang="en-US" altLang="ko-KR" dirty="0" smtClean="0">
                <a:solidFill>
                  <a:schemeClr val="tx1"/>
                </a:solidFill>
              </a:rPr>
              <a:t> 3.0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85629" y="2829283"/>
            <a:ext cx="20400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err="1" smtClean="0"/>
              <a:t>벤티마킹</a:t>
            </a:r>
            <a:r>
              <a:rPr lang="ko-KR" altLang="en-US" sz="1200" dirty="0" smtClean="0"/>
              <a:t> 모델로 개발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시스템 연계 </a:t>
            </a:r>
            <a:r>
              <a:rPr lang="en-US" altLang="ko-KR" sz="1200" dirty="0" smtClean="0"/>
              <a:t>(RPA, API)</a:t>
            </a:r>
            <a:endParaRPr lang="ko-KR" alt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4376394" y="2829283"/>
            <a:ext cx="26997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사용자 테스트 결과 반영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사용자 요건 반영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 smtClean="0"/>
              <a:t>OCR </a:t>
            </a:r>
            <a:r>
              <a:rPr lang="ko-KR" altLang="en-US" sz="1200" dirty="0" smtClean="0"/>
              <a:t>활용한 입력 간소화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사용자 </a:t>
            </a:r>
            <a:r>
              <a:rPr lang="en-US" altLang="ko-KR" sz="1200" dirty="0" err="1" smtClean="0"/>
              <a:t>R&amp;R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분석을 통한 통폐합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: </a:t>
            </a:r>
            <a:r>
              <a:rPr lang="ko-KR" altLang="en-US" sz="1200" dirty="0" smtClean="0"/>
              <a:t>자동화 요소 발굴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감사 자료 </a:t>
            </a:r>
            <a:r>
              <a:rPr lang="en-US" altLang="ko-KR" sz="1200" dirty="0" smtClean="0"/>
              <a:t>AI </a:t>
            </a:r>
            <a:r>
              <a:rPr lang="ko-KR" altLang="en-US" sz="1200" dirty="0" smtClean="0"/>
              <a:t>기반 생성</a:t>
            </a:r>
            <a:endParaRPr lang="ko-KR" alt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8184914" y="2829283"/>
            <a:ext cx="2565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 smtClean="0"/>
              <a:t>Mobile, </a:t>
            </a:r>
            <a:r>
              <a:rPr lang="ko-KR" altLang="en-US" sz="1200" dirty="0" smtClean="0"/>
              <a:t>태블릿 용도별 개발</a:t>
            </a:r>
            <a:endParaRPr lang="en-US" altLang="ko-KR" sz="1200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/>
              <a:t>자동화</a:t>
            </a:r>
            <a:r>
              <a:rPr lang="en-US" altLang="ko-KR" sz="1200" dirty="0" smtClean="0"/>
              <a:t>(Tag, GPS </a:t>
            </a:r>
            <a:r>
              <a:rPr lang="ko-KR" altLang="en-US" sz="1200" dirty="0" smtClean="0"/>
              <a:t>등 적용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적용</a:t>
            </a:r>
            <a:endParaRPr lang="ko-KR" altLang="en-US" sz="1200" dirty="0"/>
          </a:p>
        </p:txBody>
      </p:sp>
      <p:sp>
        <p:nvSpPr>
          <p:cNvPr id="48" name="이등변 삼각형 47"/>
          <p:cNvSpPr/>
          <p:nvPr/>
        </p:nvSpPr>
        <p:spPr>
          <a:xfrm flipV="1">
            <a:off x="1482571" y="5388747"/>
            <a:ext cx="1384916" cy="3107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이등변 삼각형 48"/>
          <p:cNvSpPr/>
          <p:nvPr/>
        </p:nvSpPr>
        <p:spPr>
          <a:xfrm flipV="1">
            <a:off x="5419669" y="5388747"/>
            <a:ext cx="1384916" cy="3107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이등변 삼각형 49"/>
          <p:cNvSpPr/>
          <p:nvPr/>
        </p:nvSpPr>
        <p:spPr>
          <a:xfrm flipV="1">
            <a:off x="9365187" y="5388747"/>
            <a:ext cx="1384916" cy="31071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1483976" y="5927762"/>
            <a:ext cx="1382109" cy="402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 smtClean="0"/>
              <a:t>기본 기능 </a:t>
            </a:r>
            <a:r>
              <a:rPr lang="en-US" altLang="ko-KR" sz="1200" b="1" dirty="0" smtClean="0"/>
              <a:t>+ </a:t>
            </a:r>
            <a:r>
              <a:rPr lang="ko-KR" altLang="en-US" sz="1200" b="1" dirty="0" smtClean="0"/>
              <a:t>연동</a:t>
            </a:r>
            <a:endParaRPr lang="ko-KR" altLang="en-US" sz="12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675178" y="5927762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 smtClean="0"/>
              <a:t>기능 간소화</a:t>
            </a:r>
            <a:r>
              <a:rPr lang="en-US" altLang="ko-KR" sz="1200" b="1" dirty="0" smtClean="0"/>
              <a:t>/</a:t>
            </a:r>
            <a:r>
              <a:rPr lang="ko-KR" altLang="en-US" sz="1200" b="1" dirty="0" smtClean="0"/>
              <a:t>편의성 </a:t>
            </a:r>
            <a:r>
              <a:rPr lang="en-US" altLang="ko-KR" sz="1200" b="1" dirty="0" smtClean="0"/>
              <a:t>+ Data </a:t>
            </a:r>
            <a:r>
              <a:rPr lang="ko-KR" altLang="en-US" sz="1200" b="1" dirty="0" smtClean="0"/>
              <a:t>통합 관리</a:t>
            </a:r>
            <a:endParaRPr lang="ko-KR" altLang="en-US" sz="12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9734479" y="5927762"/>
            <a:ext cx="646331" cy="402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 smtClean="0"/>
              <a:t>자동화</a:t>
            </a:r>
            <a:endParaRPr lang="ko-KR" altLang="en-US" sz="12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124288" y="213064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케어 솔루션</a:t>
            </a:r>
            <a:endParaRPr lang="ko-KR" altLang="en-US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10691518" y="30539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smtClean="0"/>
              <a:t>목표 방향성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986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203</Words>
  <Application>Microsoft Office PowerPoint</Application>
  <PresentationFormat>와이드스크린</PresentationFormat>
  <Paragraphs>55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천병희</dc:creator>
  <cp:lastModifiedBy>천병희</cp:lastModifiedBy>
  <cp:revision>12</cp:revision>
  <dcterms:created xsi:type="dcterms:W3CDTF">2026-10-03T04:42:40Z</dcterms:created>
  <dcterms:modified xsi:type="dcterms:W3CDTF">2026-10-03T05:52:29Z</dcterms:modified>
</cp:coreProperties>
</file>